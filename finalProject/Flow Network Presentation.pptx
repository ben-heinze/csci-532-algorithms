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df2f12122_2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df2f12122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f2f12122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df2f12122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df2f12122_2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df2f1212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f2f12122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df2f12122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df2f12122_2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df2f12122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df2f12122_2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df2f12122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df2f12122_2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df2f12122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f2f12122_2_1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f2f12122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f2f12122_2_1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f2f12122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f2f12122_2_1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df2f12122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f2f12122_2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df2f1212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f2f12122_2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df2f12122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df2f12122_2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df2f12122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df2f12122_2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df2f12122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f2f12122_2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df2f12122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Optimization Algorithms on Flow Network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Ben Heinze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247275" y="2083475"/>
            <a:ext cx="864900" cy="8649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7235975" y="2821725"/>
            <a:ext cx="864900" cy="8649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673063" y="77755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849550" y="89290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029050" y="398195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599650" y="400910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stCxn id="73" idx="7"/>
            <a:endCxn id="75" idx="2"/>
          </p:cNvCxnSpPr>
          <p:nvPr/>
        </p:nvCxnSpPr>
        <p:spPr>
          <a:xfrm flipH="1" rot="10800000">
            <a:off x="985513" y="1209937"/>
            <a:ext cx="687600" cy="1000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4"/>
          <p:cNvCxnSpPr>
            <a:stCxn id="77" idx="6"/>
            <a:endCxn id="78" idx="2"/>
          </p:cNvCxnSpPr>
          <p:nvPr/>
        </p:nvCxnSpPr>
        <p:spPr>
          <a:xfrm>
            <a:off x="1893950" y="4414400"/>
            <a:ext cx="2705700" cy="27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4"/>
          <p:cNvCxnSpPr>
            <a:stCxn id="73" idx="5"/>
            <a:endCxn id="77" idx="1"/>
          </p:cNvCxnSpPr>
          <p:nvPr/>
        </p:nvCxnSpPr>
        <p:spPr>
          <a:xfrm>
            <a:off x="985513" y="2821713"/>
            <a:ext cx="170100" cy="1287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4"/>
          <p:cNvCxnSpPr>
            <a:stCxn id="75" idx="6"/>
            <a:endCxn id="76" idx="2"/>
          </p:cNvCxnSpPr>
          <p:nvPr/>
        </p:nvCxnSpPr>
        <p:spPr>
          <a:xfrm>
            <a:off x="2537963" y="1210000"/>
            <a:ext cx="2311500" cy="115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4"/>
          <p:cNvSpPr txBox="1"/>
          <p:nvPr/>
        </p:nvSpPr>
        <p:spPr>
          <a:xfrm>
            <a:off x="-10575" y="1590875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Belgrade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8049800" y="3007875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MSU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673075" y="36870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I-90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672425" y="56915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19th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222225" y="3489350"/>
            <a:ext cx="18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Jackrabbit Ln.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5332200" y="448360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Huffine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222225" y="1793763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40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70825" y="321885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20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595600" y="89290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28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635088" y="1846113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13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156500" y="2637138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5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191400" y="3961213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30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778900" y="245100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291825" y="2427050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College St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97;p14"/>
          <p:cNvCxnSpPr>
            <a:stCxn id="78" idx="0"/>
            <a:endCxn id="95" idx="4"/>
          </p:cNvCxnSpPr>
          <p:nvPr/>
        </p:nvCxnSpPr>
        <p:spPr>
          <a:xfrm flipH="1" rot="10800000">
            <a:off x="5032100" y="3315800"/>
            <a:ext cx="179400" cy="693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4"/>
          <p:cNvCxnSpPr>
            <a:stCxn id="76" idx="4"/>
            <a:endCxn id="95" idx="0"/>
          </p:cNvCxnSpPr>
          <p:nvPr/>
        </p:nvCxnSpPr>
        <p:spPr>
          <a:xfrm flipH="1">
            <a:off x="5211200" y="1757800"/>
            <a:ext cx="70800" cy="693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4"/>
          <p:cNvCxnSpPr>
            <a:stCxn id="95" idx="6"/>
            <a:endCxn id="74" idx="2"/>
          </p:cNvCxnSpPr>
          <p:nvPr/>
        </p:nvCxnSpPr>
        <p:spPr>
          <a:xfrm>
            <a:off x="5643800" y="2883450"/>
            <a:ext cx="1592100" cy="370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4"/>
          <p:cNvSpPr/>
          <p:nvPr/>
        </p:nvSpPr>
        <p:spPr>
          <a:xfrm>
            <a:off x="7235975" y="892900"/>
            <a:ext cx="864900" cy="864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097500" y="525338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Lincoln </a:t>
            </a:r>
            <a:r>
              <a:rPr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" name="Google Shape;102;p14"/>
          <p:cNvCxnSpPr>
            <a:stCxn id="76" idx="6"/>
            <a:endCxn id="100" idx="2"/>
          </p:cNvCxnSpPr>
          <p:nvPr/>
        </p:nvCxnSpPr>
        <p:spPr>
          <a:xfrm>
            <a:off x="5714450" y="1325350"/>
            <a:ext cx="1521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4"/>
          <p:cNvCxnSpPr>
            <a:stCxn id="100" idx="4"/>
            <a:endCxn id="74" idx="0"/>
          </p:cNvCxnSpPr>
          <p:nvPr/>
        </p:nvCxnSpPr>
        <p:spPr>
          <a:xfrm>
            <a:off x="7668425" y="1757800"/>
            <a:ext cx="0" cy="1063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4"/>
          <p:cNvSpPr txBox="1"/>
          <p:nvPr/>
        </p:nvSpPr>
        <p:spPr>
          <a:xfrm>
            <a:off x="5855450" y="928338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8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668425" y="1986288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4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092950" y="3622563"/>
            <a:ext cx="13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13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62375" y="2239325"/>
            <a:ext cx="434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S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497925" y="2919650"/>
            <a:ext cx="362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latin typeface="Roboto"/>
                <a:ea typeface="Roboto"/>
                <a:cs typeface="Roboto"/>
                <a:sym typeface="Roboto"/>
              </a:rPr>
              <a:t>t</a:t>
            </a:r>
            <a:endParaRPr sz="3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Networks Applications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460950" y="20036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Finding Bottlenecks in Traffic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Airline Scheduling Optimization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Business Supply Chain Optimization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Image Segmentation in Computer Vision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Algorithms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60950" y="200360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CPLEX (Linear Program Solver)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Ford-Fulkerson (DFS)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Edmonds-Karp (BFS)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Ford-Fulkerson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266700" y="2003600"/>
            <a:ext cx="882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AutoNum type="arabicPeriod"/>
            </a:pPr>
            <a:r>
              <a:rPr lang="en" sz="2900">
                <a:solidFill>
                  <a:schemeClr val="dk2"/>
                </a:solidFill>
              </a:rPr>
              <a:t>Start with no flow throughout the network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AutoNum type="arabicPeriod"/>
            </a:pPr>
            <a:r>
              <a:rPr lang="en" sz="2900">
                <a:solidFill>
                  <a:schemeClr val="dk2"/>
                </a:solidFill>
              </a:rPr>
              <a:t>Find augmenting path from </a:t>
            </a:r>
            <a:r>
              <a:rPr i="1" lang="en" sz="2900">
                <a:solidFill>
                  <a:schemeClr val="dk2"/>
                </a:solidFill>
              </a:rPr>
              <a:t>s</a:t>
            </a:r>
            <a:r>
              <a:rPr lang="en" sz="2900">
                <a:solidFill>
                  <a:schemeClr val="dk2"/>
                </a:solidFill>
              </a:rPr>
              <a:t> to </a:t>
            </a:r>
            <a:r>
              <a:rPr i="1" lang="en" sz="2900">
                <a:solidFill>
                  <a:schemeClr val="dk2"/>
                </a:solidFill>
              </a:rPr>
              <a:t>t </a:t>
            </a:r>
            <a:r>
              <a:rPr lang="en" sz="2900">
                <a:solidFill>
                  <a:schemeClr val="dk2"/>
                </a:solidFill>
              </a:rPr>
              <a:t>in residual graph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AutoNum type="arabicPeriod"/>
            </a:pPr>
            <a:r>
              <a:rPr lang="en" sz="2900">
                <a:solidFill>
                  <a:schemeClr val="dk2"/>
                </a:solidFill>
              </a:rPr>
              <a:t>Fill path with the bottleneck flow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AutoNum type="arabicPeriod"/>
            </a:pPr>
            <a:r>
              <a:rPr lang="en" sz="2900">
                <a:solidFill>
                  <a:schemeClr val="dk2"/>
                </a:solidFill>
              </a:rPr>
              <a:t>Update residual graph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AutoNum type="arabicPeriod"/>
            </a:pPr>
            <a:r>
              <a:rPr lang="en" sz="2900">
                <a:solidFill>
                  <a:schemeClr val="dk2"/>
                </a:solidFill>
              </a:rPr>
              <a:t>Repeat until no </a:t>
            </a:r>
            <a:r>
              <a:rPr i="1" lang="en" sz="2900">
                <a:solidFill>
                  <a:schemeClr val="dk2"/>
                </a:solidFill>
              </a:rPr>
              <a:t>s-t</a:t>
            </a:r>
            <a:r>
              <a:rPr lang="en" sz="2900">
                <a:solidFill>
                  <a:schemeClr val="dk2"/>
                </a:solidFill>
              </a:rPr>
              <a:t> paths exists in residual graph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Ford-Fulkerson vs Edmonds-Karp</a:t>
            </a:r>
            <a:endParaRPr/>
          </a:p>
        </p:txBody>
      </p:sp>
      <p:pic>
        <p:nvPicPr>
          <p:cNvPr descr="https://mishadoff.com/images/dfs/binary_tree_search.png"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25" y="1808326"/>
            <a:ext cx="8010526" cy="33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CPLEX - Linear Program Solver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460950" y="179405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Decision Variables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Objective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Constraints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CPLEX - Linear Program Solver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460950" y="1565450"/>
            <a:ext cx="8222100" cy="37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Decision Variables:</a:t>
            </a:r>
            <a:endParaRPr sz="2900">
              <a:solidFill>
                <a:schemeClr val="dk2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How much flow to put through each edge</a:t>
            </a:r>
            <a:endParaRPr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Objective</a:t>
            </a:r>
            <a:endParaRPr sz="2900">
              <a:solidFill>
                <a:schemeClr val="dk2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Maximize flow going into sink </a:t>
            </a:r>
            <a:r>
              <a:rPr i="1" lang="en" sz="2900">
                <a:solidFill>
                  <a:schemeClr val="dk2"/>
                </a:solidFill>
              </a:rPr>
              <a:t>t</a:t>
            </a:r>
            <a:endParaRPr i="1"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Constraints: </a:t>
            </a:r>
            <a:endParaRPr sz="2900">
              <a:solidFill>
                <a:schemeClr val="dk2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Flow cannot be greater than capacity</a:t>
            </a:r>
            <a:endParaRPr sz="2900">
              <a:solidFill>
                <a:schemeClr val="dk2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-"/>
            </a:pPr>
            <a:r>
              <a:rPr lang="en" sz="2900">
                <a:solidFill>
                  <a:schemeClr val="dk2"/>
                </a:solidFill>
              </a:rPr>
              <a:t>Conservation of flow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Generation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168000" y="1755950"/>
            <a:ext cx="8829900" cy="33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AutoNum type="arabicPeriod"/>
            </a:pPr>
            <a:r>
              <a:rPr lang="en" sz="2600">
                <a:solidFill>
                  <a:schemeClr val="dk2"/>
                </a:solidFill>
              </a:rPr>
              <a:t>Create an integer array </a:t>
            </a:r>
            <a:r>
              <a:rPr i="1" lang="en" sz="2600">
                <a:solidFill>
                  <a:schemeClr val="dk2"/>
                </a:solidFill>
              </a:rPr>
              <a:t>0</a:t>
            </a:r>
            <a:r>
              <a:rPr i="1" lang="en" sz="2600">
                <a:solidFill>
                  <a:schemeClr val="dk2"/>
                </a:solidFill>
              </a:rPr>
              <a:t> to n-1</a:t>
            </a:r>
            <a:r>
              <a:rPr lang="en" sz="2600">
                <a:solidFill>
                  <a:schemeClr val="dk2"/>
                </a:solidFill>
              </a:rPr>
              <a:t>, then shuffle 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AutoNum type="arabicPeriod"/>
            </a:pPr>
            <a:r>
              <a:rPr lang="en" sz="2600">
                <a:solidFill>
                  <a:schemeClr val="dk2"/>
                </a:solidFill>
              </a:rPr>
              <a:t>Reassign int 0 to index 0, then int </a:t>
            </a:r>
            <a:r>
              <a:rPr i="1" lang="en" sz="2600">
                <a:solidFill>
                  <a:schemeClr val="dk2"/>
                </a:solidFill>
              </a:rPr>
              <a:t>n-1 </a:t>
            </a:r>
            <a:r>
              <a:rPr lang="en" sz="2600">
                <a:solidFill>
                  <a:schemeClr val="dk2"/>
                </a:solidFill>
              </a:rPr>
              <a:t>to index </a:t>
            </a:r>
            <a:r>
              <a:rPr i="1" lang="en" sz="2600">
                <a:solidFill>
                  <a:schemeClr val="dk2"/>
                </a:solidFill>
              </a:rPr>
              <a:t>n-1 </a:t>
            </a:r>
            <a:endParaRPr i="1"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AutoNum type="arabicPeriod"/>
            </a:pPr>
            <a:r>
              <a:rPr lang="en" sz="2600">
                <a:solidFill>
                  <a:schemeClr val="dk2"/>
                </a:solidFill>
              </a:rPr>
              <a:t>Create an edge between the adjacent integers while randomly generating a capacity in range (1, 20)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AutoNum type="arabicPeriod"/>
            </a:pPr>
            <a:r>
              <a:rPr lang="en" sz="2600">
                <a:solidFill>
                  <a:schemeClr val="dk2"/>
                </a:solidFill>
              </a:rPr>
              <a:t>Create random edges in the </a:t>
            </a:r>
            <a:r>
              <a:rPr lang="en" sz="2600">
                <a:solidFill>
                  <a:schemeClr val="dk2"/>
                </a:solidFill>
              </a:rPr>
              <a:t>graph until density threshold </a:t>
            </a:r>
            <a:r>
              <a:rPr i="1" lang="en" sz="2600">
                <a:solidFill>
                  <a:schemeClr val="dk2"/>
                </a:solidFill>
              </a:rPr>
              <a:t>d</a:t>
            </a:r>
            <a:r>
              <a:rPr lang="en" sz="2600">
                <a:solidFill>
                  <a:schemeClr val="dk2"/>
                </a:solidFill>
              </a:rPr>
              <a:t> is met:</a:t>
            </a:r>
            <a:endParaRPr i="1" sz="2600">
              <a:solidFill>
                <a:schemeClr val="dk2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825" y="4141325"/>
            <a:ext cx="4886326" cy="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00" y="4106900"/>
            <a:ext cx="6518851" cy="5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00" y="3208473"/>
            <a:ext cx="8222100" cy="4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471900" y="1874975"/>
            <a:ext cx="82221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5 trials for each combination of </a:t>
            </a:r>
            <a:r>
              <a:rPr i="1" lang="en" sz="2900">
                <a:solidFill>
                  <a:schemeClr val="dk2"/>
                </a:solidFill>
              </a:rPr>
              <a:t>n </a:t>
            </a:r>
            <a:r>
              <a:rPr lang="en" sz="2900">
                <a:solidFill>
                  <a:schemeClr val="dk2"/>
                </a:solidFill>
              </a:rPr>
              <a:t>and </a:t>
            </a:r>
            <a:r>
              <a:rPr i="1" lang="en" sz="2900">
                <a:solidFill>
                  <a:schemeClr val="dk2"/>
                </a:solidFill>
              </a:rPr>
              <a:t>d</a:t>
            </a:r>
            <a:r>
              <a:rPr lang="en" sz="2900">
                <a:solidFill>
                  <a:schemeClr val="dk2"/>
                </a:solidFill>
              </a:rPr>
              <a:t>. Algorithms are timed in milliseconds.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6" title="solve_time_graph_siz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50" y="0"/>
            <a:ext cx="8571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7" title="solve_time_dens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50" y="0"/>
            <a:ext cx="85710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471900" y="2571750"/>
            <a:ext cx="8222100" cy="1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“Never bet against CPLEX” - Sean Yaw</a:t>
            </a:r>
            <a:endParaRPr sz="3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